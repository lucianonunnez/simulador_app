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8"/>
    <p:sldId id="263" r:id="rId7"/>
    <p:sldId id="264" r:id="rId6"/>
    <p:sldId id="265" r:id="rId5"/>
    <p:sldId id="266" r:id="rId4"/>
    <p:sldId id="267" r:id="rId3"/>
  </p:sldIdLst>
  <p:sldSz cx="12191695" cy="6858000"/>
  <p:notesSz cx="6888163" cy="100187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90DFC7-0AAD-9BB8-AD89-D49404ED6EDB}" name="Luciano Gustavo Nunez" initials="LN" userId="S::luciano.nunez@swissmedical.com.ar::fae1ec22-29eb-4610-a195-74639f682696" providerId="AD"/>
  <p188:author id="{ACC773DB-C5B3-B028-EDFD-697B2866C637}" name="Lucas Javier Tochi" initials="LT" userId="S::lucasjavier.tochi@swissmedical.com.ar::1108887c-591f-4315-99d2-61aa7806811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AD6C6D-89E4-45BD-A8E7-02B70B6A3B19}" v="3" dt="2026-05-13T19:45:13.582"/>
    <p1510:client id="{32AC9BD5-AEF1-4627-E0C2-E46E963C4232}" v="9" dt="2026-05-13T19:44:29.382"/>
    <p1510:client id="{359F3443-AD9D-4268-BD86-744B9AF1BEF9}" v="3" dt="2026-05-13T19:28:30.547"/>
    <p1510:client id="{7E1B9194-62C4-BE40-D162-653533422357}" v="346" dt="2026-05-14T13:57:32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8.xml"/><Relationship Id="rId8" Type="http://schemas.openxmlformats.org/officeDocument/2006/relationships/slide" Target="slides/slide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075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2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9280"/>
            <a:ext cx="12191695" cy="1188720"/>
          </a:xfrm>
          <a:prstGeom prst="rect">
            <a:avLst/>
          </a:prstGeom>
        </p:spPr>
      </p:pic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74920"/>
            <a:ext cx="201168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331720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Simulador de Costo Médico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Plataforma interna de análisis, simulación y predicción de costos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2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74920"/>
            <a:ext cx="2011680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Tres capacidades sobre un mismo conjunto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424160" cy="2011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Simular el impacto financiero de cambios de tarifas por prestador, nomenclador o prestación.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Detectar desvíos de costo con métodos estadísticos, temporales y estructurales.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Proyectar el costo médico futuro con modelos de machine learning.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Acceso autenticado; los datos de negocio se cargan en runtime y no se versionan.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Arquitectura en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Separación estricta entre lógica de negocio y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3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CAPAS (DE ENTRADA A BASE)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streamlit_app.py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Entry point: router de navegación, autenticación y logging.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modules/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Orquestadores por pantalla; cada uno expone render().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core/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Lógica pura sin Streamlit: datos, cálculo, ML, INDEC, logging.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ui/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Solo presentación: controles de sidebar, tabs y formatters.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PRINCIPIOS DE DISEÑO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Testeable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core/ no importa Streamlit: funciones puras de DataFrame a DataFrame.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Caché compartida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Los 3 módulos reutilizan la misma carga de datos.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Degradación elegante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Si falta un origen o un modelo, la app guía en vez de romperse.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Empaquetado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Docker (Python 3.11), listo para Hugging Face Spaces.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Módulo 1 — Simulador de Aumentos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Proyección del impacto financiero ante cambios de tarifas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FLUJO DE USO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Carga y merge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Consumo + Valores unidos por Prestador, Convenio y Prestación.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Definición de escenario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Aumento plano, por nomenclador o por prestación; filtro por 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Simulación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Cálculo de consumo ideal vs. simulado y % de aumento por prestación.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Tabla de negociación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Valor convenido vs. ofrecido, exportable a CSV.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DETALLE TÉCNICO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Claves de merge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Prestador ID · Convenio ID · Prestacion ID (Int64, admite nulos).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Métricas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Consumo ideal, simulado, diferencia e impacto % sobre el período.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Contexto macro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Inflación mensual del INDEC (API datos.gob.ar).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Módulo 2 — Detección de Desvíos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Identificación de anomalías de costo con métodos estadísticos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5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MÉTODOS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Análisis temporal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Cada registro vs. su propia historia (ventana móvil).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Análisis estructural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Cada registro vs. sus pares comparables del mismo 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Combinación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Modo intersección: alerta solo cuando ambos coinciden.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Ranking de alertas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Priorización de los desvíos más significativos.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TÉCNICAS IMPLEMENTADAS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Temporal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z-score con ventana móvil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Rango intercuartílico (IQR)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Estructural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Percentil vs. pares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z-score cruzado por mes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Métricas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Precio unitario, importe total o cantidad.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Módulo 3 — Predicción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Pronóstico del costo médico futuro y comparativa de modelos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PIPELINE DE PREDICCIÓN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Construcción de panel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Prestador × Prestación × Mes con calendario completo.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Feature engineering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Lags 1/2/3, medias y desvíos móviles 3/6, estacionalidad.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Inferencia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Carga de modelos pre-entrenados y predicción por métrica.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Comparativa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LightGBM vs. red neuronal, con métricas de performance.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MODELOS Y MÉTRICAS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Modelos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LightGBM (.txt) — con feature importance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Red neuronal Keras (.keras) + scalers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Métricas objetivo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Importe, precio unitario y cantidad.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Paridad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El feature engineering replica exactamente el del entrenamiento.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Datos e integraciones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Carga unificada, cacheada y resiliente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7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RESOLUCIÓN DE ORIGEN (POR PRIORIDAD)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Carpeta local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Modo oficina con archivos precargados en data/.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OneDrive / SharePoint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URLs configuradas como secret; descarga directa cacheada.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Upload manual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Fallback universal desde la barra lateral.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Autodetección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Detecta la fila de encabezado real (exportes de Power BI).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CONTRATO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Consumo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Prestador, convenio, mes, prestación, cantidad e importe.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Valores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Tarifa convenida por prestador y prestación.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Caché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Excel local: 1 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OneDrive: 10 min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INDEC: 1 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Modelos: por proceso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Seguridad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Información sensible del negocio como requisito de primer orden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8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CONTROLES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Autenticación obligatoria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Login previo a todo; contraseñas en hash bcrypt.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Secrets fuera del repo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Solo se versiona la plantilla; secreto real ignorado.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Datos no versionados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Datasets excluidos por .gitignore; carga en runtime.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Logs sin secretos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Redacción automática de campos sensibles.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ACCIÓN REQUERIDA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Deuda histórica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El secrets.toml antiguo persiste en el historial de git.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Rotación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Regenerar cookie_key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Resetear contraseñas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Revisar links de OneDrive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Referencia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Procedimiento completo en docs/SECURITY.md.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Logging y observabilidad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Trazabilidad centralizada de operación y auditoría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DISEÑO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Logging centralizado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Inicialización única e idempotente entre reruns.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Dos canales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Operación (diagnóstico) y auditoría (seguridad/compliance).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Formato conmutable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Texto en desarrollo, JSON en producción para colectores.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Redacción automática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Passwords, tokens y claves nunca se escriben en claro.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CONFIGURACIÓN Y EVENTOS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Variables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LOG_LEVEL (INFO por defecto)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LOG_FORMAT (text | json)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Eventos auditados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login_success / login_failure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model_loaded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ai_query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Destino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Salida estándar, lista para ELK / Loki / CloudWatch.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Roadmap de integración con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Copiloto analítico sobre los resultados ya calculados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10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HITOS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 — Copiloto de lectura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Preguntas en lenguaje natural sobre la pantalla actual.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B — Explicaciones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Resúmenes ejecutivos y porqué de cada desvío.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 — Interacción (tool use)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Re-ejecución de simulaciones y salidas estructuradas.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D — Pronóstico asistido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Narrativa sobre proyecciones y alertas proactivas.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DISEÑO DE LA BASE (YA EN EL REPO)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Opt-in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Desactivado por defecto; requiere flag y credencial.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Dependencia aislada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Lazy import del SDK: no pesa mientras está apagado.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Eficiencia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Prompt caching sobre el bloque de instrucciones estable.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Privacidad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Solo se envían datos agregados, nunca el dato crudo.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55448"/>
            <a:ext cx="146304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8686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 b="1">
                <a:solidFill>
                  <a:srgbClr val="E02214"/>
                </a:solidFill>
                <a:latin typeface="Calibri"/>
              </a:rPr>
              <a:t>Estado y 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05840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6E6F71"/>
                </a:solidFill>
                <a:latin typeface="Calibri"/>
              </a:rPr>
              <a:t>Dónde está el proyecto y qué sigue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Simulador de Costo Médico   |   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6400800" cy="4617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46504"/>
            <a:ext cx="60350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HECHO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214884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Arquitectura por capas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Repositorio reorganizado y documentado.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77539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313182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15010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Seguridad reforzada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Secrets y datasets fuera del control de versiones.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6052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133087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Observabilidad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Logging estructurado con canal de auditoría.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43500"/>
            <a:ext cx="384048" cy="384048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097780"/>
            <a:ext cx="5349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5116068"/>
            <a:ext cx="5120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Base de IA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E6F71"/>
                </a:solidFill>
                <a:latin typeface="Calibri"/>
              </a:rPr>
              <a:t>Capa experimental lista, desactivada por defecto.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78040" y="1627632"/>
            <a:ext cx="452628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78040" y="1627632"/>
            <a:ext cx="4526280" cy="457200"/>
          </a:xfrm>
          <a:prstGeom prst="rect">
            <a:avLst/>
          </a:prstGeom>
          <a:solidFill>
            <a:srgbClr val="E02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627632"/>
            <a:ext cx="4160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PRÓXIMOS PASOS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221992"/>
            <a:ext cx="4069080" cy="3886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Inmediato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Rotación de credenciales históricas (ver Seguridad).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Despliegue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Publicación del contenedor y alta de usuarios.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IA — Hito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Construcción del copiloto de lectura por módulo.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E02214"/>
                </a:solidFill>
                <a:latin typeface="Calibri"/>
              </a:rPr>
              <a:t>Documentación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E6F71"/>
                </a:solidFill>
                <a:latin typeface="Calibri"/>
              </a:rPr>
              <a:t>•  </a:t>
            </a:r>
            <a:r>
              <a:rPr sz="1000" b="0">
                <a:solidFill>
                  <a:srgbClr val="1A1A1A"/>
                </a:solidFill>
                <a:latin typeface="Calibri"/>
              </a:rPr>
              <a:t>ARCHITECTURE · SECURITY · LOGGING · AI_ROADMAP · DATA_MODEL.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500" b="0">
                <a:solidFill>
                  <a:srgbClr val="6E6F7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22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pic>
        <p:nvPicPr>
          <p:cNvPr id="3" name="Picture 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9280"/>
            <a:ext cx="12191695" cy="1188720"/>
          </a:xfrm>
          <a:prstGeom prst="rect">
            <a:avLst/>
          </a:prstGeom>
        </p:spPr>
      </p:pic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74920"/>
            <a:ext cx="201168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10607040" cy="10972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070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Simulador de Costo Médico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de apertura - Swiss Medical</dc:title>
  <dc:subject>PptxGenJS Presentation</dc:subject>
  <dc:creator>Swiss Medical</dc:creator>
  <cp:revision>165</cp:revision>
  <cp:lastPrinted>2026-05-13T18:14:06Z</cp:lastPrinted>
  <dcterms:created xsi:type="dcterms:W3CDTF">2026-05-13T14:29:15Z</dcterms:created>
  <dcterms:modified xsi:type="dcterms:W3CDTF">2026-05-14T13:58:36Z</dcterms:modified>
</cp:coreProperties>
</file>